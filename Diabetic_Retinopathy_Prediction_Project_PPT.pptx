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80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101C1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005840"/>
            <a:ext cx="3291840" cy="3291840"/>
          </a:xfrm>
          <a:prstGeom prst="ellipse">
            <a:avLst/>
          </a:prstGeom>
          <a:ln w="15875">
            <a:solidFill>
              <a:srgbClr val="2FA89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5507" y="118871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HEALTHCARE ANALYTICS CAPSTONE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67219" y="1600198"/>
            <a:ext cx="10241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Diabetic Retinopathy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in Patients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585507" y="50292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– Triloknath Reddy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03795" y="4480558"/>
            <a:ext cx="2011680" cy="0"/>
          </a:xfrm>
          <a:prstGeom prst="line">
            <a:avLst/>
          </a:prstGeom>
          <a:noFill/>
          <a:ln w="25400">
            <a:solidFill>
              <a:srgbClr val="E8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5507" y="461771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 ·  Logistic Regression Model  ·  6,000-Patient Dataset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C8718BD-CB7A-5281-BD12-E605AD816BB1}"/>
              </a:ext>
            </a:extLst>
          </p:cNvPr>
          <p:cNvSpPr/>
          <p:nvPr/>
        </p:nvSpPr>
        <p:spPr>
          <a:xfrm>
            <a:off x="1737907" y="362711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predictive screening system using patient vital signs — age, blood pressure, and cholesterol — to estimate diabetic retinopathy risk.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is a leading cause of preventable vision loss. Early, low-cost screening using routine vital signs can flag at-risk patients before an eye exam is available.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06040"/>
            <a:ext cx="502920" cy="50292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patient vital-sign data (age, blood pressure, cholesterol) to understand patterns linked to retinopathy.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74136" y="23317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2606040"/>
            <a:ext cx="502920" cy="50292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3602736" y="3291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02736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multiple classification algorithms to predict retinopathy risk from vitals.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23317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5664" y="2606040"/>
            <a:ext cx="502920" cy="50292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6428232" y="3291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8232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most reliable model using accuracy, precision, recall, F1-score, and ROC-AUC.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25128" y="2331720"/>
            <a:ext cx="2606040" cy="3108960"/>
          </a:xfrm>
          <a:prstGeom prst="roundRect">
            <a:avLst>
              <a:gd name="adj" fmla="val 3158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606040"/>
            <a:ext cx="502920" cy="50292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5968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9253728" y="32918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253728" y="370332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best model into an interactive Streamlit screening dashboard for real-time use.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the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0B151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8191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74136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0B1512"/>
          </a:solidFill>
          <a:ln/>
        </p:spPr>
      </p:sp>
      <p:sp>
        <p:nvSpPr>
          <p:cNvPr id="8" name="Text 6"/>
          <p:cNvSpPr/>
          <p:nvPr/>
        </p:nvSpPr>
        <p:spPr>
          <a:xfrm>
            <a:off x="3374136" y="158191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74136" y="2313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0B1512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58191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99632" y="2313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5128" y="1417320"/>
            <a:ext cx="2606040" cy="1417320"/>
          </a:xfrm>
          <a:prstGeom prst="roundRect">
            <a:avLst>
              <a:gd name="adj" fmla="val 5806"/>
            </a:avLst>
          </a:prstGeom>
          <a:solidFill>
            <a:srgbClr val="0B1512"/>
          </a:solidFill>
          <a:ln/>
        </p:spPr>
      </p:sp>
      <p:sp>
        <p:nvSpPr>
          <p:cNvPr id="14" name="Text 12"/>
          <p:cNvSpPr/>
          <p:nvPr/>
        </p:nvSpPr>
        <p:spPr>
          <a:xfrm>
            <a:off x="9025128" y="158191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25128" y="23134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Columns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5852160" cy="26517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89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8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 in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systolic_bp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blood pressure (mmHg)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diastolic_bp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 blood pressure (mmHg)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cholesterol level (mg/dL)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label — retinopathy / no_retinopathy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766560" y="3063240"/>
            <a:ext cx="4892040" cy="3017520"/>
          </a:xfrm>
          <a:prstGeom prst="roundRect">
            <a:avLst>
              <a:gd name="adj" fmla="val 2727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Balance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99516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32688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3,087 (51.5%)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995160" y="4023360"/>
            <a:ext cx="4434840" cy="201168"/>
          </a:xfrm>
          <a:prstGeom prst="roundRect">
            <a:avLst>
              <a:gd name="adj" fmla="val 13636"/>
            </a:avLst>
          </a:prstGeom>
          <a:solidFill>
            <a:srgbClr val="D9E6E1"/>
          </a:solidFill>
          <a:ln/>
        </p:spPr>
      </p:sp>
      <p:sp>
        <p:nvSpPr>
          <p:cNvPr id="23" name="Shape 20"/>
          <p:cNvSpPr/>
          <p:nvPr/>
        </p:nvSpPr>
        <p:spPr>
          <a:xfrm>
            <a:off x="6995160" y="4023360"/>
            <a:ext cx="2281725" cy="201168"/>
          </a:xfrm>
          <a:prstGeom prst="roundRect">
            <a:avLst>
              <a:gd name="adj" fmla="val 13636"/>
            </a:avLst>
          </a:prstGeom>
          <a:solidFill>
            <a:srgbClr val="2FA898"/>
          </a:solidFill>
          <a:ln/>
        </p:spPr>
      </p:sp>
      <p:sp>
        <p:nvSpPr>
          <p:cNvPr id="24" name="Text 21"/>
          <p:cNvSpPr/>
          <p:nvPr/>
        </p:nvSpPr>
        <p:spPr>
          <a:xfrm>
            <a:off x="699516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no_retinopathy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326880" y="4434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2,913 (48.5%)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995160" y="4754880"/>
            <a:ext cx="4434840" cy="201168"/>
          </a:xfrm>
          <a:prstGeom prst="roundRect">
            <a:avLst>
              <a:gd name="adj" fmla="val 13636"/>
            </a:avLst>
          </a:prstGeom>
          <a:solidFill>
            <a:srgbClr val="D9E6E1"/>
          </a:solidFill>
          <a:ln/>
        </p:spPr>
      </p:sp>
      <p:sp>
        <p:nvSpPr>
          <p:cNvPr id="27" name="Shape 24"/>
          <p:cNvSpPr/>
          <p:nvPr/>
        </p:nvSpPr>
        <p:spPr>
          <a:xfrm>
            <a:off x="6995160" y="4754880"/>
            <a:ext cx="2153115" cy="201168"/>
          </a:xfrm>
          <a:prstGeom prst="roundRect">
            <a:avLst>
              <a:gd name="adj" fmla="val 13636"/>
            </a:avLst>
          </a:prstGeom>
          <a:solidFill>
            <a:srgbClr val="E8B454"/>
          </a:solidFill>
          <a:ln/>
        </p:spPr>
      </p:sp>
      <p:sp>
        <p:nvSpPr>
          <p:cNvPr id="28" name="Text 25"/>
          <p:cNvSpPr/>
          <p:nvPr/>
        </p:nvSpPr>
        <p:spPr>
          <a:xfrm>
            <a:off x="6995160" y="516636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Classes are nearly balanced (~51/49), so accuracy is a fair headline metric and no resampling was required.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modeling, the dataset was audited for completeness, consistency, and structure.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Missing Values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08760" y="24414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6,000 rows are complete across every clinical column — no imputation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331720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22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7132320" y="211226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 Rows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32320" y="24414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record is unique, so counts and ratios reflect real, distinct cases.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31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1508760" y="36210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Numeric Types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08760" y="395020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blood pressure, and cholesterol are stored as continuous numeric values, ready for scaling.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47472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31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60" dirty="0"/>
          </a:p>
        </p:txBody>
      </p:sp>
      <p:sp>
        <p:nvSpPr>
          <p:cNvPr id="23" name="Text 21"/>
          <p:cNvSpPr/>
          <p:nvPr/>
        </p:nvSpPr>
        <p:spPr>
          <a:xfrm>
            <a:off x="7132320" y="36210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Target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32320" y="395020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prognosis label has exactly two classes — a clean binary classification setup.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TARGET VARIABLE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545336"/>
            <a:ext cx="5413248" cy="3950208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targe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1206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91640"/>
            <a:ext cx="5166360" cy="4206240"/>
          </a:xfrm>
          <a:prstGeom prst="roundRect">
            <a:avLst>
              <a:gd name="adj" fmla="val 1957"/>
            </a:avLst>
          </a:prstGeom>
          <a:solidFill>
            <a:srgbClr val="0B1512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0" y="22860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close to evenly split between the two prognosis classes — 51.5% retinopathy vs. 48.5% no_retinopathy.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0" y="32461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near-balance means models don't need class-weighting or oversampling, and accuracy is a trustworthy performance signal alongside precision/recall.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766560" y="4480560"/>
            <a:ext cx="4480560" cy="0"/>
          </a:xfrm>
          <a:prstGeom prst="line">
            <a:avLst/>
          </a:prstGeom>
          <a:noFill/>
          <a:ln w="12700">
            <a:solidFill>
              <a:srgbClr val="1D2F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4663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 / 48.5%</a:t>
            </a:r>
            <a:endParaRPr lang="en-US" sz="20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split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DISTRIBUTIONS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Numerical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499616"/>
            <a:ext cx="6419088" cy="4910328"/>
          </a:xfrm>
          <a:prstGeom prst="roundRect">
            <a:avLst>
              <a:gd name="adj" fmla="val 1490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histog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12648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783080"/>
            <a:ext cx="292608" cy="292608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0" y="1773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8" name="Text 5"/>
          <p:cNvSpPr/>
          <p:nvPr/>
        </p:nvSpPr>
        <p:spPr>
          <a:xfrm>
            <a:off x="7680960" y="17556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0" y="203911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bell-shaped, centered near 60 years (mean 60.5, std 8.6); very few patients under 40 or over 90.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23760" y="3200400"/>
            <a:ext cx="292608" cy="292608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0" y="3191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12" name="Text 9"/>
          <p:cNvSpPr/>
          <p:nvPr/>
        </p:nvSpPr>
        <p:spPr>
          <a:xfrm>
            <a:off x="7680960" y="31729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Pressure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680960" y="345643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(~100.7 mmHg) and diastolic (~90.5 mmHg) both follow smooth, near-normal curves with mild right skew.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223760" y="4617720"/>
            <a:ext cx="292608" cy="292608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46085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16" name="Text 13"/>
          <p:cNvSpPr/>
          <p:nvPr/>
        </p:nvSpPr>
        <p:spPr>
          <a:xfrm>
            <a:off x="7680960" y="4590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Cholesterol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80960" y="48737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around 100.6 mg/dL with a similar symmetric spread (std ≈ 10.4).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223760" y="56235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vitals are approximately normally distributed — a good sign for models like Logistic Regression that assume roughly linear, well-scaled inputs.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OUTLIER DETECTION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 (IQR Method)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545336"/>
            <a:ext cx="6601968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boxplots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63093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Flagged (1.5 × IQR rule)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52360" y="21945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FF6F3"/>
          </a:solidFill>
          <a:ln w="9525">
            <a:solidFill>
              <a:srgbClr val="D9E6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21945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26880" y="21945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rows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424160" y="21945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52360" y="28803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FF6F3"/>
          </a:solidFill>
          <a:ln w="9525">
            <a:solidFill>
              <a:srgbClr val="D9E6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8803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26880" y="28803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rows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424160" y="28803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52360" y="35661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FF6F3"/>
          </a:solidFill>
          <a:ln w="9525">
            <a:solidFill>
              <a:srgbClr val="D9E6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566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326880" y="35661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rows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0424160" y="35661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52360" y="4251960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FF6F3"/>
          </a:solidFill>
          <a:ln w="9525">
            <a:solidFill>
              <a:srgbClr val="D9E6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2519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326880" y="425196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rows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424160" y="4251960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52360" y="50749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1.1% of values fall outside typical range in any feature — the dataset is clean, and extreme values are kept since they likely represent genuine high-risk elderly patients rather than data errors.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RELATIONSHIPS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Vitals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" y="1591056"/>
            <a:ext cx="459028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737360"/>
            <a:ext cx="429768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0B1512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233172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322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28" dirty="0"/>
          </a:p>
        </p:txBody>
      </p:sp>
      <p:sp>
        <p:nvSpPr>
          <p:cNvPr id="10" name="Text 7"/>
          <p:cNvSpPr/>
          <p:nvPr/>
        </p:nvSpPr>
        <p:spPr>
          <a:xfrm>
            <a:off x="7178040" y="227685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BP, diastolic BP, and cholesterol are moderately correlated with each other (r ≈ 0.40 – 0.41).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320040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3191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28" dirty="0"/>
          </a:p>
        </p:txBody>
      </p:sp>
      <p:sp>
        <p:nvSpPr>
          <p:cNvPr id="13" name="Text 10"/>
          <p:cNvSpPr/>
          <p:nvPr/>
        </p:nvSpPr>
        <p:spPr>
          <a:xfrm>
            <a:off x="7178040" y="314553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essentially uncorrelated with the other three vitals (r ≈ 0.01), so it contributes independent information.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6560" y="406908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40599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28" dirty="0"/>
          </a:p>
        </p:txBody>
      </p:sp>
      <p:sp>
        <p:nvSpPr>
          <p:cNvPr id="16" name="Text 13"/>
          <p:cNvSpPr/>
          <p:nvPr/>
        </p:nvSpPr>
        <p:spPr>
          <a:xfrm>
            <a:off x="7178040" y="401421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is highly correlated (r &gt; 0.7), so multicollinearity is not a concern for linear models.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VS. TARGET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Vitals Compared Across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499616"/>
            <a:ext cx="6419088" cy="4361688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feature_vs_progno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12648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737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Retinopathy patients trend higher across every vital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23760" y="23317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869680" y="23317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Retinopathy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287000" y="2331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23760" y="2980944"/>
            <a:ext cx="4343400" cy="0"/>
          </a:xfrm>
          <a:prstGeom prst="line">
            <a:avLst/>
          </a:prstGeom>
          <a:noFill/>
          <a:ln w="9525">
            <a:solidFill>
              <a:srgbClr val="D9E6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26517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(yrs)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869680" y="2651760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87000" y="26517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223760" y="3419856"/>
            <a:ext cx="4343400" cy="0"/>
          </a:xfrm>
          <a:prstGeom prst="line">
            <a:avLst/>
          </a:prstGeom>
          <a:noFill/>
          <a:ln w="9525">
            <a:solidFill>
              <a:srgbClr val="D9E6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30906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69680" y="3090672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87000" y="30906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223760" y="3858768"/>
            <a:ext cx="4343400" cy="0"/>
          </a:xfrm>
          <a:prstGeom prst="line">
            <a:avLst/>
          </a:prstGeom>
          <a:noFill/>
          <a:ln w="9525">
            <a:solidFill>
              <a:srgbClr val="D9E6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3760" y="352958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69680" y="3529584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287000" y="35295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23760" y="4297680"/>
            <a:ext cx="4343400" cy="0"/>
          </a:xfrm>
          <a:prstGeom prst="line">
            <a:avLst/>
          </a:prstGeom>
          <a:noFill/>
          <a:ln w="9525">
            <a:solidFill>
              <a:srgbClr val="D9E6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23760" y="39684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69680" y="3968496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287000" y="39684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103.8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23760" y="454456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means (from grouped analysis). Age shows the widest gap between groups, followed by cholesterol and systolic BP.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target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51.5% / 48.5% split removes the need for class balancing techniques.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57400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values, zero duplicates, and under 1.1% outliers per feature.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82880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2057400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matters most visibly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02752" y="29718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 patients average ~6.5 years older than non-retinopathy patients.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BP–cholesterol links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BP, diastolic BP, and cholesterol correlate at r ≈ 0.40 — related but not redundant.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794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23360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is independent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carries information the other vitals don't (r ≈ 0.01 with each).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7947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4023360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31" name="Text 29"/>
          <p:cNvSpPr/>
          <p:nvPr/>
        </p:nvSpPr>
        <p:spPr>
          <a:xfrm>
            <a:off x="8330184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02752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dominant predictor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02752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features show only moderate separation between classes, suggesting an ensemble of signals is needed.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New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499616"/>
            <a:ext cx="6419088" cy="4361688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engineered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1264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783080"/>
            <a:ext cx="310896" cy="310896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7" name="Text 4"/>
          <p:cNvSpPr/>
          <p:nvPr/>
        </p:nvSpPr>
        <p:spPr>
          <a:xfrm>
            <a:off x="7223760" y="1773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84" dirty="0"/>
          </a:p>
        </p:txBody>
      </p:sp>
      <p:sp>
        <p:nvSpPr>
          <p:cNvPr id="8" name="Text 5"/>
          <p:cNvSpPr/>
          <p:nvPr/>
        </p:nvSpPr>
        <p:spPr>
          <a:xfrm>
            <a:off x="7699248" y="17465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Pressure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99248" y="203911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systolic_bp − diastolic_bp. Captures arterial stiffness in a single number, mostly ranging 0–30 mmHg.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223760" y="3264408"/>
            <a:ext cx="310896" cy="310896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0" y="3255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84" dirty="0"/>
          </a:p>
        </p:txBody>
      </p:sp>
      <p:sp>
        <p:nvSpPr>
          <p:cNvPr id="12" name="Text 9"/>
          <p:cNvSpPr/>
          <p:nvPr/>
        </p:nvSpPr>
        <p:spPr>
          <a:xfrm>
            <a:off x="7699248" y="3227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99248" y="35204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Binned into Adult / Middle Age / Senior. 98% of patients fall into Middle-Age or Senior — a mostly older cohort.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223760" y="4745736"/>
            <a:ext cx="310896" cy="310896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4736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884" dirty="0"/>
          </a:p>
        </p:txBody>
      </p:sp>
      <p:sp>
        <p:nvSpPr>
          <p:cNvPr id="16" name="Text 13"/>
          <p:cNvSpPr/>
          <p:nvPr/>
        </p:nvSpPr>
        <p:spPr>
          <a:xfrm>
            <a:off x="7699248" y="47091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BP &amp; Cholesterol Bands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699248" y="5001768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clinical cutoffs (e.g. 240 mg/dL for high cholesterol) placed almost every patient in the 'Normal' band — the synthetic scale doesn't map to real clinical thresholds, so relative/statistical comparison was used instead.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CORRELATION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 Pressure Adds a New Angle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25296" y="1591056"/>
            <a:ext cx="4407408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engineered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37360"/>
            <a:ext cx="41148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0B1512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233172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322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28" dirty="0"/>
          </a:p>
        </p:txBody>
      </p:sp>
      <p:sp>
        <p:nvSpPr>
          <p:cNvPr id="10" name="Text 7"/>
          <p:cNvSpPr/>
          <p:nvPr/>
        </p:nvSpPr>
        <p:spPr>
          <a:xfrm>
            <a:off x="7178040" y="227685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pressure correlates strongly with systolic BP (r = 0.61) and negatively with diastolic BP (r = -0.48) — expected, since it's derived from both.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329184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3282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28" dirty="0"/>
          </a:p>
        </p:txBody>
      </p:sp>
      <p:sp>
        <p:nvSpPr>
          <p:cNvPr id="13" name="Text 10"/>
          <p:cNvSpPr/>
          <p:nvPr/>
        </p:nvSpPr>
        <p:spPr>
          <a:xfrm>
            <a:off x="7178040" y="323697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almost no correlation with age (r = 0.02) or cholesterol (r = 0.04), so it adds genuinely new information rather than duplicating existing features.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766560" y="425196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42428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728" dirty="0"/>
          </a:p>
        </p:txBody>
      </p:sp>
      <p:sp>
        <p:nvSpPr>
          <p:cNvPr id="16" name="Text 13"/>
          <p:cNvSpPr/>
          <p:nvPr/>
        </p:nvSpPr>
        <p:spPr>
          <a:xfrm>
            <a:off x="7178040" y="4197096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engineered feature was included as a fifth model input alongside the four raw vitals.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for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12848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03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the Target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categorical prognosis label (retinopathy / no_retinopathy) was label-encoded into 0/1 for classification algorithms.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2212848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203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553712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34747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 vitals were standardized (zero mean, unit variance) so features on different scales — years vs. mmHg vs. mg/dL — contribute fairly.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0440" cy="3383280"/>
          </a:xfrm>
          <a:prstGeom prst="roundRect">
            <a:avLst>
              <a:gd name="adj" fmla="val 2432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212848"/>
            <a:ext cx="548640" cy="54864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2037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330184" y="2971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Pipeline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347472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scaler fitted on training data is reused at prediction time, ensuring the deployed app scores new patients on an identical scale.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 records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D9E6E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31720"/>
            <a:ext cx="3877056" cy="502920"/>
          </a:xfrm>
          <a:prstGeom prst="roundRect">
            <a:avLst>
              <a:gd name="adj" fmla="val 10909"/>
            </a:avLst>
          </a:prstGeom>
          <a:solidFill>
            <a:srgbClr val="2FA89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4,800 records (80%)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1,200 records (20%)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237744" cy="237744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85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76" dirty="0"/>
          </a:p>
        </p:txBody>
      </p:sp>
      <p:sp>
        <p:nvSpPr>
          <p:cNvPr id="12" name="Text 10"/>
          <p:cNvSpPr/>
          <p:nvPr/>
        </p:nvSpPr>
        <p:spPr>
          <a:xfrm>
            <a:off x="1234440" y="373989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performed with a fixed random_state for reproducible results across every model.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453128"/>
            <a:ext cx="237744" cy="237744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439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76" dirty="0"/>
          </a:p>
        </p:txBody>
      </p:sp>
      <p:sp>
        <p:nvSpPr>
          <p:cNvPr id="15" name="Text 13"/>
          <p:cNvSpPr/>
          <p:nvPr/>
        </p:nvSpPr>
        <p:spPr>
          <a:xfrm>
            <a:off x="1234440" y="439826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preserved the ~51/49 class ratio in both the training and test sets.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5111496"/>
            <a:ext cx="237744" cy="237744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1023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676" dirty="0"/>
          </a:p>
        </p:txBody>
      </p:sp>
      <p:sp>
        <p:nvSpPr>
          <p:cNvPr id="18" name="Text 16"/>
          <p:cNvSpPr/>
          <p:nvPr/>
        </p:nvSpPr>
        <p:spPr>
          <a:xfrm>
            <a:off x="1234440" y="505663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breaks down to 583 no_retinopathy and 617 retinopathy cases — enough volume per class for reliable metrics.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0B1512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out 20% of patients the models never see during training gives an honest read on how each algorithm would perform on new, unseen patients — not just how well it memorized the training data.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Stratifying the split further ensures both classes are fairly represented, so performance differences between models reflect real predictive skill, not an accidental imbalance in the test set.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Algorithms, One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spread of algorithm families was trained on the same scaled features so their strengths could be compared fairly.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64408" y="20574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65576" y="225856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2" name="Text 10"/>
          <p:cNvSpPr/>
          <p:nvPr/>
        </p:nvSpPr>
        <p:spPr>
          <a:xfrm>
            <a:off x="3465576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2834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splits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0176" y="20574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225856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63056" y="2834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95944" y="205740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97112" y="225856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2" name="Text 20"/>
          <p:cNvSpPr/>
          <p:nvPr/>
        </p:nvSpPr>
        <p:spPr>
          <a:xfrm>
            <a:off x="8897112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78824" y="28346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78824" y="33375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" y="5212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64408" y="39319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65576" y="413308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32" name="Text 30"/>
          <p:cNvSpPr/>
          <p:nvPr/>
        </p:nvSpPr>
        <p:spPr>
          <a:xfrm>
            <a:off x="3465576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47288" y="4709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47288" y="5212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0176" y="393192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EFF6F3"/>
          </a:solidFill>
          <a:ln w="12700">
            <a:solidFill>
              <a:srgbClr val="D9E6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1344" y="4133088"/>
            <a:ext cx="457200" cy="457200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63056" y="470916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63056" y="52120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9631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share of correct predictions across both classes.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8745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49631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flagged as retinopathy, how many truly had it — controls false alarms.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87452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2057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49631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who truly had retinopathy, how many were caught — controls missed cases.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41655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 — a single balanced score.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7947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3712" y="441655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of true/false positives and negatives per model.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79476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977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0184" y="4416552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separate the two classes across all decision thresholds.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636776"/>
            <a:ext cx="7242048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69494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737360"/>
            <a:ext cx="3566160" cy="4206240"/>
          </a:xfrm>
          <a:prstGeom prst="roundRect">
            <a:avLst>
              <a:gd name="adj" fmla="val 2308"/>
            </a:avLst>
          </a:prstGeom>
          <a:solidFill>
            <a:srgbClr val="0B1512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1965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21040" y="23317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leads on accuracy and precision, with SVM and Gradient Boosting close behind on recall and F1.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21040" y="3429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single models (Decision Tree) underperform — a sign the decision boundary is smoother than a single tree can capture.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21040" y="45262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across all 7 models clusters between 67%–77% accuracy — a moderate, not extreme, predictive ceiling given the features available.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a Glance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3611880"/>
        </p:xfrm>
        <a:graphic>
          <a:graphicData uri="http://schemas.openxmlformats.org/drawingml/2006/table">
            <a:tbl>
              <a:tblPr/>
              <a:tblGrid>
                <a:gridCol w="3410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accuracy on the held-out 1,200-patient test set. Logistic Regression tops every metric except recall, where SVM edges ahead by catching slightly more true retinopathy cases.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 &amp; AUC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545336"/>
            <a:ext cx="6281928" cy="4910328"/>
          </a:xfrm>
          <a:prstGeom prst="roundRect">
            <a:avLst>
              <a:gd name="adj" fmla="val 1490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989320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0" y="1783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Under the Curve (AUC) by Model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223760" y="22860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241280" y="2340864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9" name="Text 6"/>
          <p:cNvSpPr/>
          <p:nvPr/>
        </p:nvSpPr>
        <p:spPr>
          <a:xfrm>
            <a:off x="10195560" y="228600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223760" y="268833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241280" y="2743200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12" name="Text 9"/>
          <p:cNvSpPr/>
          <p:nvPr/>
        </p:nvSpPr>
        <p:spPr>
          <a:xfrm>
            <a:off x="10195560" y="26883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23760" y="309067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241280" y="3145536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15" name="Text 12"/>
          <p:cNvSpPr/>
          <p:nvPr/>
        </p:nvSpPr>
        <p:spPr>
          <a:xfrm>
            <a:off x="10195560" y="30906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23760" y="34930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241280" y="3547872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18" name="Text 15"/>
          <p:cNvSpPr/>
          <p:nvPr/>
        </p:nvSpPr>
        <p:spPr>
          <a:xfrm>
            <a:off x="10195560" y="34930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23760" y="38953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241280" y="3950208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21" name="Text 18"/>
          <p:cNvSpPr/>
          <p:nvPr/>
        </p:nvSpPr>
        <p:spPr>
          <a:xfrm>
            <a:off x="10195560" y="389534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23760" y="429768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241280" y="4352544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24" name="Text 21"/>
          <p:cNvSpPr/>
          <p:nvPr/>
        </p:nvSpPr>
        <p:spPr>
          <a:xfrm>
            <a:off x="10195560" y="42976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470001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241280" y="4754880"/>
            <a:ext cx="914400" cy="219456"/>
          </a:xfrm>
          <a:prstGeom prst="roundRect">
            <a:avLst>
              <a:gd name="adj" fmla="val 12500"/>
            </a:avLst>
          </a:prstGeom>
          <a:solidFill>
            <a:srgbClr val="EFF6F3"/>
          </a:solidFill>
          <a:ln/>
        </p:spPr>
      </p:sp>
      <p:sp>
        <p:nvSpPr>
          <p:cNvPr id="27" name="Text 24"/>
          <p:cNvSpPr/>
          <p:nvPr/>
        </p:nvSpPr>
        <p:spPr>
          <a:xfrm>
            <a:off x="10195560" y="470001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223760" y="5239512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Gradient Boosting tie for the best class-separation ability (AUC 0.84) — well above the random-guess baseline of 0.50.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Logistic Regression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2416" y="1591056"/>
            <a:ext cx="4407408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confusion_matrix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737360"/>
            <a:ext cx="41148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000"/>
            </a:avLst>
          </a:prstGeom>
          <a:solidFill>
            <a:srgbClr val="0B1512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0" y="23317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457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8181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as No Retinopathy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0" y="299008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468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818120" y="30358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as Retinopathy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766560" y="364845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18120" y="36941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(predicted retinopathy, actually healthy)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66560" y="43068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A8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8120" y="43525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cases (actual retinopathy, predicted healthy)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766560" y="5056632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1,200 test patients, the model correctly classified 925 (77.1%) — with a slight tendency to miss more true cases (149) than raise false alarms (126).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The Final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the strongest, most balanced results — and because its coefficients are easy to explain to a clinician.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77.08%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78.79%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74136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99632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25128" y="214884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5128" y="2331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B4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25128" y="3108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won out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71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0" name="Text 18"/>
          <p:cNvSpPr/>
          <p:nvPr/>
        </p:nvSpPr>
        <p:spPr>
          <a:xfrm>
            <a:off x="960120" y="442569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accuracy, precision, and (tied) top ROC-AUC among all 7 models tested.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974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3" name="Text 21"/>
          <p:cNvSpPr/>
          <p:nvPr/>
        </p:nvSpPr>
        <p:spPr>
          <a:xfrm>
            <a:off x="960120" y="492861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linear decision boundary is enough — the near-normal, moderately-correlated features don't reward more complex models.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77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6" name="Text 24"/>
          <p:cNvSpPr/>
          <p:nvPr/>
        </p:nvSpPr>
        <p:spPr>
          <a:xfrm>
            <a:off x="960120" y="543153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map directly to each vital's contribution, supporting transparent, explainable predictions in a clinical setting.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989320"/>
            <a:ext cx="256032" cy="256032"/>
          </a:xfrm>
          <a:prstGeom prst="ellipse">
            <a:avLst/>
          </a:prstGeom>
          <a:solidFill>
            <a:srgbClr val="2FA89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980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8" dirty="0"/>
          </a:p>
        </p:txBody>
      </p:sp>
      <p:sp>
        <p:nvSpPr>
          <p:cNvPr id="29" name="Text 27"/>
          <p:cNvSpPr/>
          <p:nvPr/>
        </p:nvSpPr>
        <p:spPr>
          <a:xfrm>
            <a:off x="960120" y="593445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evaluate in real time — well-suited to an interactive screening app.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Dashboard — Live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6656" y="1271016"/>
            <a:ext cx="10808208" cy="5184648"/>
          </a:xfrm>
          <a:prstGeom prst="roundRect">
            <a:avLst>
              <a:gd name="adj" fmla="val 1411"/>
            </a:avLst>
          </a:prstGeom>
          <a:solidFill>
            <a:srgbClr val="101C18"/>
          </a:solidFill>
          <a:ln w="12700">
            <a:solidFill>
              <a:srgbClr val="D9E6E1"/>
            </a:solidFill>
            <a:prstDash val="solid"/>
          </a:ln>
          <a:effectLst>
            <a:outerShdw blurRad="101600" dist="38100" dir="5400000" algn="bl" rotWithShape="0">
              <a:srgbClr val="1B2622">
                <a:alpha val="18000"/>
              </a:srgbClr>
            </a:outerShdw>
          </a:effectLst>
        </p:spPr>
      </p:sp>
      <p:pic>
        <p:nvPicPr>
          <p:cNvPr id="5" name="Image 0" descr="assets/app_screensho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10515600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During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E8B45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thresholds didn't fit the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cholesterol/BP cutoffs placed nearly every patient in the 'Normal' bin, so those engineered categories added little signal — relative comparisons against population means were used instead.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E8B45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3368" y="2560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Moderate, not strong, predictors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3368" y="29260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feature correlations capped around r ≈ 0.4 and no single dominant variable, pushing accuracy much past the high-70s proved difficult across all 7 algorithms.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E8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precision and recall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5120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recall to catch more true retinopathy cases tended to raise false alarms — the final model's threshold reflects a deliberate trade-off.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01C18"/>
          </a:solidFill>
          <a:ln w="12700">
            <a:solidFill>
              <a:srgbClr val="1D2F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206240"/>
            <a:ext cx="457200" cy="457200"/>
          </a:xfrm>
          <a:prstGeom prst="ellipse">
            <a:avLst/>
          </a:prstGeom>
          <a:solidFill>
            <a:srgbClr val="E8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the app and notebook in sync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73368" y="51206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app retrains live on dataset.csv, but also needed a pretrained fallback so it still works if the dataset or training step is ever unavailable in the cloud.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61263" y="2379074"/>
            <a:ext cx="10058400" cy="894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400" dirty="0">
                <a:solidFill>
                  <a:srgbClr val="2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561263" y="384211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DE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Prediction in Patients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" y="4527914"/>
            <a:ext cx="5837464" cy="0"/>
          </a:xfrm>
          <a:prstGeom prst="line">
            <a:avLst/>
          </a:prstGeom>
          <a:noFill/>
          <a:ln w="25400">
            <a:solidFill>
              <a:srgbClr val="E8B454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2143</Words>
  <Application>Microsoft Office PowerPoint</Application>
  <PresentationFormat>Widescreen</PresentationFormat>
  <Paragraphs>416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Triloknath Reddy</cp:lastModifiedBy>
  <cp:revision>2</cp:revision>
  <dcterms:created xsi:type="dcterms:W3CDTF">2026-08-04T07:41:25Z</dcterms:created>
  <dcterms:modified xsi:type="dcterms:W3CDTF">2026-08-04T07:50:18Z</dcterms:modified>
</cp:coreProperties>
</file>